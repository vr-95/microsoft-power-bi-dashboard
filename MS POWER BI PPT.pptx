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2" r:id="rId2"/>
  </p:sldMasterIdLst>
  <p:notesMasterIdLst>
    <p:notesMasterId r:id="rId16"/>
  </p:notesMasterIdLst>
  <p:sldIdLst>
    <p:sldId id="256" r:id="rId3"/>
    <p:sldId id="571" r:id="rId4"/>
    <p:sldId id="572" r:id="rId5"/>
    <p:sldId id="573" r:id="rId6"/>
    <p:sldId id="574" r:id="rId7"/>
    <p:sldId id="575" r:id="rId8"/>
    <p:sldId id="580" r:id="rId9"/>
    <p:sldId id="581" r:id="rId10"/>
    <p:sldId id="582" r:id="rId11"/>
    <p:sldId id="577" r:id="rId12"/>
    <p:sldId id="579" r:id="rId13"/>
    <p:sldId id="583" r:id="rId14"/>
    <p:sldId id="536" r:id="rId15"/>
  </p:sldIdLst>
  <p:sldSz cx="12192000" cy="6858000"/>
  <p:notesSz cx="6858000" cy="9144000"/>
  <p:custDataLst>
    <p:tags r:id="rId1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2" userDrawn="1">
          <p15:clr>
            <a:srgbClr val="A4A3A4"/>
          </p15:clr>
        </p15:guide>
        <p15:guide id="2" pos="312" userDrawn="1">
          <p15:clr>
            <a:srgbClr val="A4A3A4"/>
          </p15:clr>
        </p15:guide>
        <p15:guide id="3" orient="horz" pos="91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4B9636B-3D94-EB3D-7CF5-3935240F8C9F}" name="Ramar Bose" initials="RB" userId="S::ramar@edunetfoundation.org::ae727035-80f4-46a2-9b41-59f778a1b49a" providerId="AD"/>
  <p188:author id="{D0A8B7BB-36D1-777B-64C8-9A30C894A727}" name="Rashmi Mishra" initials="RM" userId="S::rmishra@edunetfoundation.org::6469e6c3-66fa-4f4f-9c10-a71ac4161bf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3570"/>
    <a:srgbClr val="34A751"/>
    <a:srgbClr val="4A9DE2"/>
    <a:srgbClr val="88BFEC"/>
    <a:srgbClr val="F9B1B1"/>
    <a:srgbClr val="B2DE82"/>
    <a:srgbClr val="F57373"/>
    <a:srgbClr val="F03434"/>
    <a:srgbClr val="BC7D00"/>
    <a:srgbClr val="FFBC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73818" autoAdjust="0"/>
  </p:normalViewPr>
  <p:slideViewPr>
    <p:cSldViewPr snapToGrid="0">
      <p:cViewPr varScale="1">
        <p:scale>
          <a:sx n="60" d="100"/>
          <a:sy n="60" d="100"/>
        </p:scale>
        <p:origin x="54" y="1344"/>
      </p:cViewPr>
      <p:guideLst>
        <p:guide orient="horz" pos="672"/>
        <p:guide pos="312"/>
        <p:guide orient="horz" pos="9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699836-02B7-459A-AF64-A000817D576C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065E4E-ABE4-4C79-8716-B93932D5F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331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266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88B07-5A8B-12D3-48D5-B8315D13C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7B6700-05A0-7411-109E-A374569B6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88D759-B238-4D1C-A179-63DF885F6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C31F17-191B-CFE4-28A8-DF229B9493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854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4062684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6909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54273-D1B2-B5DA-BF7E-9FF169DF6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EE723-48AC-C184-D51D-DB184D9E4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A217C-58BE-CEDC-FE42-FFECCA161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FA99E-0146-4BD9-9E30-4EB71F3A420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F67DFB-4595-5610-E73D-EA112439D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188B-8994-FE2D-E924-64F2FB541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81918-31C6-44C6-A382-2FA557A3F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928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592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8856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7107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229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9870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747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BE36FD2-5CF9-42B6-267C-75A9A8826A1C}"/>
              </a:ext>
            </a:extLst>
          </p:cNvPr>
          <p:cNvSpPr/>
          <p:nvPr userDrawn="1"/>
        </p:nvSpPr>
        <p:spPr>
          <a:xfrm>
            <a:off x="0" y="0"/>
            <a:ext cx="10374086" cy="6604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F6CF07-40A9-24A4-F336-0BDA8D93267D}"/>
              </a:ext>
            </a:extLst>
          </p:cNvPr>
          <p:cNvSpPr/>
          <p:nvPr userDrawn="1"/>
        </p:nvSpPr>
        <p:spPr>
          <a:xfrm>
            <a:off x="0" y="6692900"/>
            <a:ext cx="12192000" cy="1651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8" name="Picture 4" descr="A black background with grey text&#10;&#10;AI-generated content may be incorrect.">
            <a:extLst>
              <a:ext uri="{FF2B5EF4-FFF2-40B4-BE49-F238E27FC236}">
                <a16:creationId xmlns:a16="http://schemas.microsoft.com/office/drawing/2014/main" id="{66C649D9-DD8B-5B7D-F409-A3797AEF3D3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905" y="91005"/>
            <a:ext cx="1466678" cy="478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7"/>
    </p:custDataLst>
    <p:extLst>
      <p:ext uri="{BB962C8B-B14F-4D97-AF65-F5344CB8AC3E}">
        <p14:creationId xmlns:p14="http://schemas.microsoft.com/office/powerpoint/2010/main" val="3478975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5" r:id="rId2"/>
    <p:sldLayoutId id="2147483666" r:id="rId3"/>
    <p:sldLayoutId id="2147483667" r:id="rId4"/>
    <p:sldLayoutId id="2147483668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5179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dax/" TargetMode="External"/><Relationship Id="rId2" Type="http://schemas.openxmlformats.org/officeDocument/2006/relationships/hyperlink" Target="https://learn.microsoft.com/en-us/power-bi/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github.com/VR-95/MICROSOFT-POWER-BI-DASHBOARD" TargetMode="External"/><Relationship Id="rId5" Type="http://schemas.openxmlformats.org/officeDocument/2006/relationships/hyperlink" Target="https://www.kaggle.com/datasets/gregorut/videogamesales" TargetMode="External"/><Relationship Id="rId4" Type="http://schemas.openxmlformats.org/officeDocument/2006/relationships/hyperlink" Target="https://learn.microsoft.com/en-us/power-query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40A069D-B6C2-7B0A-6719-9C65A27E0952}"/>
              </a:ext>
            </a:extLst>
          </p:cNvPr>
          <p:cNvSpPr/>
          <p:nvPr/>
        </p:nvSpPr>
        <p:spPr>
          <a:xfrm>
            <a:off x="-32657" y="3429000"/>
            <a:ext cx="424543" cy="34290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5C78EFA-3B33-383D-31A6-F48EC0533950}"/>
              </a:ext>
            </a:extLst>
          </p:cNvPr>
          <p:cNvSpPr/>
          <p:nvPr/>
        </p:nvSpPr>
        <p:spPr>
          <a:xfrm>
            <a:off x="0" y="0"/>
            <a:ext cx="228600" cy="34290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DD7732-9B23-40F7-1FF7-FD50BDC193D8}"/>
              </a:ext>
            </a:extLst>
          </p:cNvPr>
          <p:cNvSpPr/>
          <p:nvPr/>
        </p:nvSpPr>
        <p:spPr>
          <a:xfrm>
            <a:off x="7913913" y="0"/>
            <a:ext cx="4985657" cy="315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DA2A85-6D5C-2987-0FF8-3AF240456D3B}"/>
              </a:ext>
            </a:extLst>
          </p:cNvPr>
          <p:cNvSpPr/>
          <p:nvPr/>
        </p:nvSpPr>
        <p:spPr>
          <a:xfrm>
            <a:off x="-32657" y="6509659"/>
            <a:ext cx="12888684" cy="348341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A black background with grey text&#10;&#10;AI-generated content may be incorrect.">
            <a:extLst>
              <a:ext uri="{FF2B5EF4-FFF2-40B4-BE49-F238E27FC236}">
                <a16:creationId xmlns:a16="http://schemas.microsoft.com/office/drawing/2014/main" id="{4D362339-2CD4-BEA9-8BCD-81A300A3C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304" y="316620"/>
            <a:ext cx="1725854" cy="56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1999" cy="6857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F837936-4230-3A98-A2A1-6E77E027B36D}"/>
              </a:ext>
            </a:extLst>
          </p:cNvPr>
          <p:cNvSpPr>
            <a:spLocks noGrp="1"/>
          </p:cNvSpPr>
          <p:nvPr/>
        </p:nvSpPr>
        <p:spPr>
          <a:xfrm>
            <a:off x="517379" y="1343054"/>
            <a:ext cx="4746772" cy="25067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kern="1200">
                <a:latin typeface="+mj-lt"/>
                <a:ea typeface="+mj-ea"/>
                <a:cs typeface="+mj-cs"/>
              </a:rPr>
              <a:t>CAPSTONE </a:t>
            </a:r>
            <a:r>
              <a:rPr lang="en-US" sz="2800" b="1"/>
              <a:t>PROJECT</a:t>
            </a:r>
            <a:endParaRPr lang="en-US" sz="5100">
              <a:latin typeface="Aptos"/>
            </a:endParaRPr>
          </a:p>
          <a:p>
            <a:pPr algn="l"/>
            <a:br>
              <a:rPr lang="en-US" sz="5100" b="1" dirty="0"/>
            </a:br>
            <a:r>
              <a:rPr lang="en-US" sz="5100" b="1" cap="all">
                <a:latin typeface="Aptos"/>
              </a:rPr>
              <a:t>PROJECT TITLE</a:t>
            </a:r>
            <a:endParaRPr lang="en-US" sz="5100">
              <a:latin typeface="Aptos"/>
            </a:endParaRPr>
          </a:p>
          <a:p>
            <a:pPr algn="l"/>
            <a:endParaRPr lang="en-US" sz="5100" b="1" kern="120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A663A0C-3931-F8E6-391C-2FF1FDBB09CD}"/>
              </a:ext>
            </a:extLst>
          </p:cNvPr>
          <p:cNvSpPr>
            <a:spLocks noGrp="1"/>
          </p:cNvSpPr>
          <p:nvPr/>
        </p:nvSpPr>
        <p:spPr>
          <a:xfrm>
            <a:off x="594127" y="3739889"/>
            <a:ext cx="4166512" cy="191553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600"/>
              </a:spcAft>
            </a:pPr>
            <a:r>
              <a:rPr lang="en-US" sz="1600" b="1" cap="all" dirty="0"/>
              <a:t>Presented By</a:t>
            </a:r>
            <a:endParaRPr lang="en-US" sz="1600" cap="all" dirty="0"/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Student Name: Vedant Vinod Rakshe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College Name: B.K. </a:t>
            </a:r>
            <a:r>
              <a:rPr lang="en-US" sz="1600" b="1" cap="all" dirty="0" err="1"/>
              <a:t>birla</a:t>
            </a:r>
            <a:r>
              <a:rPr lang="en-US" sz="1600" b="1" cap="all" dirty="0"/>
              <a:t> College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Department:  BSc. Sy.ds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Email ID: vedantrakshe95@gmail.com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4288F3F-AD4C-81EA-1336-D2C00EFCC4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9990" y="963029"/>
            <a:ext cx="4590784" cy="493648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10333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E0E59-694D-9DFE-4488-37D5F2F48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9850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5400" b="1" cap="all" dirty="0">
                <a:latin typeface="Arial"/>
                <a:cs typeface="Arial"/>
              </a:rPr>
              <a:t>OUTLINE: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4173D-62A9-AF06-B476-EEB827087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387" y="1822228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Problem Statement 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Proposed System/Solution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System Development Approach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IN" sz="2400" b="1" dirty="0"/>
              <a:t>Data Modelling &amp; Deployment</a:t>
            </a:r>
            <a:r>
              <a:rPr lang="en-US" sz="2200" b="1" dirty="0">
                <a:latin typeface="Arial"/>
                <a:cs typeface="Arial"/>
              </a:rPr>
              <a:t>  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Result 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Conclusion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Future Scope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References</a:t>
            </a:r>
            <a:endParaRPr lang="en-US" sz="2200" dirty="0">
              <a:latin typeface="Arial"/>
              <a:cs typeface="Arial"/>
            </a:endParaRPr>
          </a:p>
          <a:p>
            <a:endParaRPr lang="en-GB" sz="2200" dirty="0">
              <a:latin typeface="Aptos" panose="020B0004020202020204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17874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9B35C-A00A-C6C7-8532-576758ED4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/>
                <a:cs typeface="Arial"/>
              </a:rPr>
              <a:t>Problem Statement:</a:t>
            </a:r>
            <a:endParaRPr lang="en-US" sz="4000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4951C6CB-59CB-04FB-EB90-78B6C9B4EB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 rot="10800000" flipH="1" flipV="1">
            <a:off x="737937" y="1574114"/>
            <a:ext cx="9776472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Context: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video game industry generates billions of dollars globally, but consumer preferences shift drastically across different regions and eras.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Problem: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Raw, historical sales data spanning multiple decades is dense and difficult to parse. Stakeholders and publishers struggle to extract actionable insights regarding market trends, regional cultural divides, and publisher efficiency without a centralized, interactive analytical tool.</a:t>
            </a:r>
          </a:p>
        </p:txBody>
      </p:sp>
    </p:spTree>
    <p:extLst>
      <p:ext uri="{BB962C8B-B14F-4D97-AF65-F5344CB8AC3E}">
        <p14:creationId xmlns:p14="http://schemas.microsoft.com/office/powerpoint/2010/main" val="3372914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7B4B1-584E-2479-D762-2265C7398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0325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/>
                <a:cs typeface="Arial"/>
              </a:rPr>
              <a:t>Proposed Solution:</a:t>
            </a:r>
            <a:endParaRPr lang="en-US" sz="4000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B51362E2-E4D8-005E-CC48-DD09CDE25F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 rot="10800000" flipV="1">
            <a:off x="545431" y="1266031"/>
            <a:ext cx="11101137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Proposed System: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development of a dynamic, industry-ready Business Intelligence dashboard designed to translate 16,500+ raw game records into strategic visual insights.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Collection: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Sourced a comprehensive dataset 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vgsales.csv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detailing historical global game sales, categorized by platform, year, genre, publisher, and region (NA, EU, JP, Other).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Preprocessing: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* Cleaned the dataset using Power Query to handle missing values (e.g., null release years).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Standardized data types to ensure accurate time-series and geographical aggregations.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Engineering: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Created advanced calculated columns using DAX (Data Analysis Expressions) to categorize games into distinct performance tiers (e.g., "Blockbuster," "Mega Hit," "Standard Hit").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139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92D15-41B4-89C1-0EA3-03BC9FA16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99528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System  Approach:</a:t>
            </a:r>
            <a:endParaRPr lang="en-US" sz="400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4CF936D-75A7-3403-DB92-A34D932BA2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34716" y="1362309"/>
            <a:ext cx="10122568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Tool: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Microsoft Power BI Desktop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Transformation: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Power Query Editor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Analytical Language: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DAX (Data Analysis Expressions) for custom measures and aggregations.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UI/UX Design: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Implemented interactive slicers, page navigation buttons, and a dark-themed visual hierarchy to simulate an application-like user experience.</a:t>
            </a:r>
          </a:p>
        </p:txBody>
      </p:sp>
    </p:spTree>
    <p:extLst>
      <p:ext uri="{BB962C8B-B14F-4D97-AF65-F5344CB8AC3E}">
        <p14:creationId xmlns:p14="http://schemas.microsoft.com/office/powerpoint/2010/main" val="3501125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DBEE6-616C-2711-86DB-C62E77D17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IN" sz="4000" b="1" dirty="0"/>
              <a:t>DATA MODELING &amp; DEPLOYMENT:</a:t>
            </a:r>
            <a:endParaRPr lang="en-US" sz="4000" b="1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8884F67-7FD4-609B-30FC-45160D74FF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7831" y="1349375"/>
            <a:ext cx="10796337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Modeling: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Built a robust analytical model that calculates precise metrics on the fly, such as dynamic market share percentages and revenue-per-release efficiency.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Analytical Techniques Applied: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Pareto Analysis: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Visualized the 80/20 rule, proving a small percentage of titles drive the majority of industry revenue.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Cohort/Regional Analysis: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Segmented consumer tastes by geography to highlight cultural divergences (e.g., Japan's preference for Role-Playing vs. North America's preference for Shooters).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Deployment: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dashboard is finalized in Power BI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pbix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format, ready to be published to the Power BI Service workspace for stakeholder access and interaction.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9084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86253E-E12E-0B1C-DE76-E94088684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245E9-385B-D0A1-F298-756EAF51C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IN" sz="4000" b="1" dirty="0"/>
              <a:t>RESULT:</a:t>
            </a:r>
            <a:endParaRPr lang="en-US" sz="40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7AFFC74-B5CF-4118-53C4-BCEAB0C851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4588" y="5848240"/>
            <a:ext cx="1119739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Executive Summary: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Highlights global revenue trends and top performers.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453F1B-0379-FC8A-B8A9-3011F6AA0D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588" y="1243974"/>
            <a:ext cx="7876675" cy="4404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7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B049CA-D582-BB32-65E1-B02312553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B4DBE-373A-382F-D55D-095420015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IN" sz="4000" b="1" dirty="0"/>
              <a:t>RESULT:</a:t>
            </a:r>
            <a:endParaRPr lang="en-US" sz="40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856C2AF-C1E2-63B6-669A-824E76B097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4588" y="5848240"/>
            <a:ext cx="1119739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b="1" dirty="0"/>
              <a:t>Publisher Analysis:</a:t>
            </a:r>
            <a:r>
              <a:rPr lang="en-US" sz="1800" dirty="0"/>
              <a:t> Showcases a custom scatter plot detailing "Volume vs. Quality" strategies among top publishers.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D6F775-ECFE-9AC1-6CA1-BB4BCC7B21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588" y="1219199"/>
            <a:ext cx="7856550" cy="4425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421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0258DE-F472-261E-B6B3-2A0DD63FD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96A07-5C6D-F946-B806-D974EAC07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IN" sz="4000" b="1" dirty="0"/>
              <a:t>RESULT:</a:t>
            </a:r>
            <a:endParaRPr lang="en-US" sz="40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5F7A0B3-0AAD-460B-42D9-8229105D7A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4588" y="5782996"/>
            <a:ext cx="1119739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b="1" dirty="0"/>
              <a:t>Regional Cultural Divide:</a:t>
            </a:r>
            <a:r>
              <a:rPr lang="en-US" sz="1800" dirty="0"/>
              <a:t> Maps out genre preferences segmented by global markets.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6CD43E-31EF-AC8B-0264-C0EB47E77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587" y="1235243"/>
            <a:ext cx="7826725" cy="4409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311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396BB-D4E8-514D-53F4-27AADA666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Conclusion:</a:t>
            </a:r>
            <a:endParaRPr lang="en-US" sz="40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C0524A2-B9D4-8DBD-3EEA-C16A8F4F0D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8611" y="1269115"/>
            <a:ext cx="9996441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interactive Power BI dashboard successfully transforms dense, historical sales data into an accessible decision-support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leveraging data visualization, the project clearly identifies major shifts in the gaming landscape, allowing stakeholders to easily navigate decades of data to understand what hardware and genres drive global revenue.</a:t>
            </a:r>
          </a:p>
        </p:txBody>
      </p:sp>
    </p:spTree>
    <p:extLst>
      <p:ext uri="{BB962C8B-B14F-4D97-AF65-F5344CB8AC3E}">
        <p14:creationId xmlns:p14="http://schemas.microsoft.com/office/powerpoint/2010/main" val="22453096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403C0-6D6C-CF0D-D01B-94F3DED1D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Future scope:</a:t>
            </a:r>
            <a:endParaRPr lang="en-US" sz="40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F2C79AB-5BF9-3911-CAE8-5E44B0DF2236}"/>
              </a:ext>
            </a:extLst>
          </p:cNvPr>
          <p:cNvSpPr txBox="1">
            <a:spLocks/>
          </p:cNvSpPr>
          <p:nvPr/>
        </p:nvSpPr>
        <p:spPr>
          <a:xfrm rot="10800000">
            <a:off x="444534" y="5432598"/>
            <a:ext cx="8635297" cy="2652773"/>
          </a:xfr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2200">
              <a:latin typeface="Franklin Gothic Book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sz="2200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37897ADD-BA6F-DAB6-47F6-A45F94CB5D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7020" y="1269115"/>
            <a:ext cx="9320463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Predictive Analytics Integration: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Incorporate machine learning models (like Random Forest or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directly into Power BI to forecast the potential first-year sales of unreleased games based on their genre and publisher.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Live Data Connections: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Connect the dashboard to live APIs (such as the IGDB or Twitch API) to overlay current player engagement and streaming viewership metrics on top of historical sales data.</a:t>
            </a:r>
          </a:p>
        </p:txBody>
      </p:sp>
    </p:spTree>
    <p:extLst>
      <p:ext uri="{BB962C8B-B14F-4D97-AF65-F5344CB8AC3E}">
        <p14:creationId xmlns:p14="http://schemas.microsoft.com/office/powerpoint/2010/main" val="37441996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FA6CFE-144E-C5FF-C490-5EBB96EF9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4C610-FDA9-1DE1-9EFA-E18435AD7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/>
                <a:cs typeface="Arial"/>
              </a:rPr>
              <a:t>REFERENCES:</a:t>
            </a:r>
            <a:endParaRPr lang="en-US" sz="40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8160568-2657-3AAB-3C32-C7610CAA4AA2}"/>
              </a:ext>
            </a:extLst>
          </p:cNvPr>
          <p:cNvSpPr txBox="1">
            <a:spLocks/>
          </p:cNvSpPr>
          <p:nvPr/>
        </p:nvSpPr>
        <p:spPr>
          <a:xfrm rot="10800000">
            <a:off x="444534" y="5432598"/>
            <a:ext cx="8635297" cy="2652773"/>
          </a:xfr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2200">
              <a:latin typeface="Franklin Gothic Book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sz="2200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9C845733-87A3-EA44-4B34-3DBFDF966D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7020" y="1279693"/>
            <a:ext cx="9320463" cy="4298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dirty="0"/>
              <a:t>Microsoft. (2024). Power BI documentation. Microsoft Learn. </a:t>
            </a:r>
            <a:r>
              <a:rPr lang="en-IN" sz="2400" dirty="0">
                <a:hlinkClick r:id="rId2"/>
              </a:rPr>
              <a:t>https://learn.microsoft.com/en-us/power-bi/</a:t>
            </a:r>
            <a:endParaRPr lang="en-IN" sz="2400" dirty="0"/>
          </a:p>
          <a:p>
            <a:r>
              <a:rPr lang="en-IN" sz="2400" dirty="0"/>
              <a:t>Microsoft. (2024). Data Analysis Expressions (DAX) Reference. Microsoft Learn. </a:t>
            </a:r>
            <a:r>
              <a:rPr lang="en-IN" sz="2400" dirty="0">
                <a:hlinkClick r:id="rId3"/>
              </a:rPr>
              <a:t>https://learn.microsoft.com/en-us/dax/</a:t>
            </a:r>
            <a:endParaRPr lang="en-IN" sz="2400" dirty="0"/>
          </a:p>
          <a:p>
            <a:r>
              <a:rPr lang="en-IN" sz="2400" dirty="0"/>
              <a:t>Microsoft. (2024). Power Query documentation. Microsoft Learn. </a:t>
            </a:r>
            <a:r>
              <a:rPr lang="en-IN" sz="2400" dirty="0">
                <a:hlinkClick r:id="rId4"/>
              </a:rPr>
              <a:t>https://learn.microsoft.com/en-us/power-query/</a:t>
            </a:r>
            <a:endParaRPr lang="en-IN" sz="2400" dirty="0"/>
          </a:p>
          <a:p>
            <a:r>
              <a:rPr lang="en-IN" sz="2400" dirty="0" err="1"/>
              <a:t>Gregorut</a:t>
            </a:r>
            <a:r>
              <a:rPr lang="en-IN" sz="2400" dirty="0"/>
              <a:t>. Video Game Sales Dataset. Kaggle. </a:t>
            </a:r>
            <a:r>
              <a:rPr lang="en-IN" sz="2400" dirty="0">
                <a:hlinkClick r:id="rId5"/>
              </a:rPr>
              <a:t>https://www.kaggle.com/datasets/gregorut/videogamesales</a:t>
            </a:r>
            <a:endParaRPr lang="en-IN" sz="2400" dirty="0"/>
          </a:p>
          <a:p>
            <a:r>
              <a:rPr lang="en-IN" sz="2400" b="1" dirty="0"/>
              <a:t>GitHub Link:</a:t>
            </a:r>
            <a:r>
              <a:rPr lang="en-IN" sz="2400" dirty="0"/>
              <a:t> </a:t>
            </a:r>
            <a:r>
              <a:rPr lang="en-IN" sz="2400" dirty="0">
                <a:hlinkClick r:id="rId6"/>
              </a:rPr>
              <a:t>https://github.com/VR-95/MICROSOFT-POWER-BI-DASHBOARD</a:t>
            </a:r>
            <a:endParaRPr lang="en-IN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05435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143E5-DB51-E32C-9252-0ED5EF288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DE97B5AD-3B10-086C-32EF-8A2EAD5287C2}"/>
              </a:ext>
            </a:extLst>
          </p:cNvPr>
          <p:cNvSpPr txBox="1">
            <a:spLocks/>
          </p:cNvSpPr>
          <p:nvPr/>
        </p:nvSpPr>
        <p:spPr>
          <a:xfrm>
            <a:off x="314324" y="6312352"/>
            <a:ext cx="3724275" cy="295275"/>
          </a:xfrm>
          <a:prstGeom prst="rect">
            <a:avLst/>
          </a:prstGeom>
        </p:spPr>
        <p:txBody>
          <a:bodyPr/>
          <a:lstStyle>
            <a:lvl1pPr marL="228611" indent="-228611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736" indent="-173736">
              <a:buFont typeface="Arial" pitchFamily="34" charset="0"/>
              <a:buNone/>
            </a:pP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AFC7433E-E155-E68D-4C00-FCB38967C6F9}"/>
              </a:ext>
            </a:extLst>
          </p:cNvPr>
          <p:cNvSpPr txBox="1">
            <a:spLocks/>
          </p:cNvSpPr>
          <p:nvPr/>
        </p:nvSpPr>
        <p:spPr>
          <a:xfrm>
            <a:off x="3247621" y="3009471"/>
            <a:ext cx="5696757" cy="839057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>
                <a:solidFill>
                  <a:srgbClr val="002060"/>
                </a:solidFill>
                <a:latin typeface="Arial"/>
                <a:cs typeface="Arial"/>
              </a:rPr>
              <a:t>Thank You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46020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1_OFFICE THEME" val="TmdBxN3j"/>
  <p:tag name="ARTICULATE_PROJECT_OPEN" val="0"/>
  <p:tag name="ARTICULATE_SLIDE_COUNT" val="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742</Words>
  <Application>Microsoft Office PowerPoint</Application>
  <PresentationFormat>Widescreen</PresentationFormat>
  <Paragraphs>58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Arial</vt:lpstr>
      <vt:lpstr>Arial Unicode MS</vt:lpstr>
      <vt:lpstr>Calibri</vt:lpstr>
      <vt:lpstr>Franklin Gothic Book</vt:lpstr>
      <vt:lpstr>1_Office Theme</vt:lpstr>
      <vt:lpstr>Custom Design</vt:lpstr>
      <vt:lpstr>PowerPoint Presentation</vt:lpstr>
      <vt:lpstr>OUTLINE:</vt:lpstr>
      <vt:lpstr>Problem Statement:</vt:lpstr>
      <vt:lpstr>Proposed Solution:</vt:lpstr>
      <vt:lpstr>System  Approach:</vt:lpstr>
      <vt:lpstr>DATA MODELING &amp; DEPLOYMENT:</vt:lpstr>
      <vt:lpstr>RESULT:</vt:lpstr>
      <vt:lpstr>RESULT:</vt:lpstr>
      <vt:lpstr>RESULT:</vt:lpstr>
      <vt:lpstr>Conclusion:</vt:lpstr>
      <vt:lpstr>Future scope:</vt:lpstr>
      <vt:lpstr>REFERENCES: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Vikrant Nath Nagar</dc:creator>
  <cp:lastModifiedBy>Vedant Rakshe</cp:lastModifiedBy>
  <cp:revision>101</cp:revision>
  <dcterms:created xsi:type="dcterms:W3CDTF">2024-05-21T11:55:07Z</dcterms:created>
  <dcterms:modified xsi:type="dcterms:W3CDTF">2026-03-14T12:32:19Z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8775663C-0243-495A-BCAB-F653BDE41EC7</vt:lpwstr>
  </property>
  <property fmtid="{D5CDD505-2E9C-101B-9397-08002B2CF9AE}" pid="3" name="ArticulatePath">
    <vt:lpwstr>https://edunetfoundationorg-my.sharepoint.com/personal/kaisar_edunetfoundation_org/Documents/Beutified ppt/MSITI/Micro Degree/Content/Module 4 Data Science/PPT/1. Introduction to Data Science</vt:lpwstr>
  </property>
</Properties>
</file>